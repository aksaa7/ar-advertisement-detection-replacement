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9" r:id="rId6"/>
    <p:sldId id="262" r:id="rId7"/>
    <p:sldId id="271" r:id="rId8"/>
    <p:sldId id="270" r:id="rId9"/>
    <p:sldId id="273" r:id="rId10"/>
    <p:sldId id="265" r:id="rId11"/>
    <p:sldId id="266" r:id="rId12"/>
    <p:sldId id="267" r:id="rId13"/>
    <p:sldId id="272" r:id="rId14"/>
    <p:sldId id="274" r:id="rId15"/>
    <p:sldId id="27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5"/>
    <p:restoredTop sz="94625"/>
  </p:normalViewPr>
  <p:slideViewPr>
    <p:cSldViewPr snapToGrid="0" snapToObjects="1">
      <p:cViewPr varScale="1">
        <p:scale>
          <a:sx n="149" d="100"/>
          <a:sy n="149" d="100"/>
        </p:scale>
        <p:origin x="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39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22860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Replacement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visual clutter through real-time AR advertisement blurring and replacement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Aksa Ahmed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897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Science  ·  Software Engineering  ·  Ulm University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6172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6,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overload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centers are saturated with advertising, competing for pedestrians' attention.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709160" y="1965960"/>
            <a:ext cx="502920" cy="50292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091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advertising exposure increases stress and mental effort while walking.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8549640" y="1965960"/>
            <a:ext cx="502920" cy="50292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549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4964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as a filter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49640" y="32004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adding more content, AR can be used to remove or soften visual noise.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91672" cy="1005840"/>
          </a:xfrm>
          <a:prstGeom prst="rect">
            <a:avLst/>
          </a:prstGeom>
          <a:solidFill>
            <a:srgbClr val="EAF3DE"/>
          </a:solidFill>
          <a:ln/>
        </p:spPr>
        <p:txBody>
          <a:bodyPr wrap="square" lIns="127000" tIns="177800" rIns="177800" bIns="12700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Does automatically detecting and blurring/replacing advertisements improve usability, reduce workload, and increase immersion - without lowering trust?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737360"/>
            <a:ext cx="85953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AR advertisement detection &amp; replacement concept, including an initial navigation feature that was later removed for safety/testability reasons.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868680" y="2633472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633472"/>
            <a:ext cx="85953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Unity prototype: detects advertisement surfaces and applies a real-time blur or replaces them with a relaxing video.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68680" y="3529584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529584"/>
            <a:ext cx="85953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within-subject user study with 3 conditions, 4 validated questionnaires (SUS, NASA-TLX, Trust, ARI), and a behavioral distraction task.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25696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68680" y="4425696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425696"/>
            <a:ext cx="85953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ran the study in LimeSurvey with 18 participants across all three conditions.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21808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68680" y="5321808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5321808"/>
            <a:ext cx="85953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merged, and statistically analyzed the data (Shapiro-Wilk, RM-ANOVA / Friedman, post-hoc tests).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view of the pedestrian's real-world surroundings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155448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0574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Advertisement surfaces (billboards, screens) are recognized in real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155448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36676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20574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applies one of two treatments to the detected surface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 - Blur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0690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detected advertisement is blurred in real time, reducing its visual salience while keeping spatial context intact.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38328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 - Replacement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0690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advertisement is replaced with a short relaxing video, turning a distracting surface into a calming visual element.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an earlier version also included a pedestrian navigation overlay. It was removed, as testing it safely in real outdoor traffic was not feasible within this project.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28016" cy="5029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74720" y="16002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Quest 3 (video passthrough AR headset)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24328"/>
            <a:ext cx="128016" cy="5029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14400" y="253288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253288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Unity, C# (based on Meta's Passthrough Camera API samples)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57016"/>
            <a:ext cx="128016" cy="5029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14400" y="346557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465576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YOLOv9 model, converted to Unity Sentis, running on-device (CPU backend) to detect advertisement surfaces in real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9704"/>
            <a:ext cx="128016" cy="5029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14400" y="4398264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4398264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are filtered across multiple frames (median-based) before the overlay position is locked in place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422392"/>
            <a:ext cx="128016" cy="5029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14400" y="5330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533095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regions are either blurred (shader-based) or overlaid with a video texture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EFEFEF"/>
          </a:solidFill>
          <a:ln w="12700">
            <a:solidFill>
              <a:srgbClr val="C9CBCF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 Original advertisement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7373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EFEFEF"/>
          </a:solidFill>
          <a:ln w="12700">
            <a:solidFill>
              <a:srgbClr val="C9CBCF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89120" y="5486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- Blurred advertisement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EFEFEF"/>
          </a:solidFill>
          <a:ln w="12700">
            <a:solidFill>
              <a:srgbClr val="C9CBCF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229600" y="5486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- Advertisement replaced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C80148B-B647-2630-2C36-DC470BD13A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48" t="25048" r="29418" b="32363"/>
          <a:stretch>
            <a:fillRect/>
          </a:stretch>
        </p:blipFill>
        <p:spPr>
          <a:xfrm>
            <a:off x="548639" y="1737360"/>
            <a:ext cx="3520440" cy="36576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14818E0-FDB3-4604-4ABC-10C932515C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194" t="18729" r="17338" b="14065"/>
          <a:stretch>
            <a:fillRect/>
          </a:stretch>
        </p:blipFill>
        <p:spPr>
          <a:xfrm>
            <a:off x="4340668" y="1737360"/>
            <a:ext cx="3568892" cy="36576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37EAAE2-0367-F2B6-139A-52EF54AEC9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501" t="19440" r="17062" b="13942"/>
          <a:stretch>
            <a:fillRect/>
          </a:stretch>
        </p:blipFill>
        <p:spPr>
          <a:xfrm>
            <a:off x="8229601" y="1737360"/>
            <a:ext cx="35204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76879" y="1417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376879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68319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(within-subject)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5118" y="1417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205118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96558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 per condition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33358" y="1417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033358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24798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distraction task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22960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4930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advertisements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unmodified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09651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advertisements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7000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Advertisement replacement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mediated reality (Mann; MIRAGE)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1396" y="283464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85716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85716" y="35204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</a:t>
            </a: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perceived usability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NASA-TLX (raw)</a:t>
            </a: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perceived workload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Automation</a:t>
            </a: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trust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</a:t>
            </a: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immersion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task</a:t>
            </a: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error rate (objective)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74152" y="283464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348472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48472" y="35204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participants</a:t>
            </a: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within-subject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Guideline: 36</a:t>
            </a: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(HCI Toolkit)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sample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48472" y="5394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sample limits statistical power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Mann &amp; Barfield (2003); MIRAGE (CHI 2026); Schwind et al. (2023), HCI User Studies Toolkit.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navigation to a paper-based task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the study: paper task</a:t>
            </a:r>
            <a:endParaRPr lang="en-US" sz="1400" dirty="0"/>
          </a:p>
        </p:txBody>
      </p:sp>
      <p:pic>
        <p:nvPicPr>
          <p:cNvPr id="4" name="Image 0" descr="assets/instruction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394960" cy="2090391"/>
          </a:xfrm>
          <a:prstGeom prst="rect">
            <a:avLst/>
          </a:prstGeom>
        </p:spPr>
      </p:pic>
      <p:pic>
        <p:nvPicPr>
          <p:cNvPr id="5" name="Image 1" descr="assets/grid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0319"/>
            <a:ext cx="5394960" cy="14446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27242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 of the number grid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idea: navigation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92240" y="4526280"/>
            <a:ext cx="5120640" cy="1097280"/>
          </a:xfrm>
          <a:prstGeom prst="rect">
            <a:avLst/>
          </a:prstGeom>
          <a:solidFill>
            <a:srgbClr val="EAF3DE"/>
          </a:solidFill>
          <a:ln/>
        </p:spPr>
        <p:txBody>
          <a:bodyPr wrap="square" lIns="127000" tIns="177800" rIns="177800" bIns="12700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risks when testing navigation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task, completed with the headset on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measure:  </a:t>
            </a: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(objective)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Project partner dropped out early; remaining work completed individually.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4" name="Picture 13" descr="nav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00200"/>
            <a:ext cx="5120640" cy="26874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scores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31920" y="16002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SUS, NASA-TLX, Trust, ARI, error rate - one score per participant per condition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Shapiro-Wilk 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25603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normality of each score, separately for A, B and 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in all 3 conditions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normal in at least 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repeated-measures ANOVA  (Trust)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88620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263640" y="388620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test  (SUS, TLX, ARI, error rate)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Post-hoc: paired t-tests + Holm correction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75488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263640" y="475488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Post-hoc: Wilcoxon signed-rank + Holm correction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TextBox 20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F5E5A"/>
                </a:solidFill>
                <a:latin typeface="Calibri"/>
              </a:rPr>
              <a:t>A = Original Advertisements   ·   B = Blurred Advertisements   ·   C = Advertisement Replacement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usability &amp; workload</a:t>
            </a:r>
            <a:endParaRPr lang="en-US" sz="3000" dirty="0"/>
          </a:p>
        </p:txBody>
      </p:sp>
      <p:pic>
        <p:nvPicPr>
          <p:cNvPr id="3" name="Image 0" descr="assets/boxplot_S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4754880"/>
          </a:xfrm>
          <a:prstGeom prst="rect">
            <a:avLst/>
          </a:prstGeom>
        </p:spPr>
      </p:pic>
      <p:pic>
        <p:nvPicPr>
          <p:cNvPr id="4" name="Image 1" descr="assets/boxplot_TL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486400" cy="47548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trust &amp; immersion</a:t>
            </a:r>
            <a:endParaRPr lang="en-US" sz="3000" dirty="0"/>
          </a:p>
        </p:txBody>
      </p:sp>
      <p:pic>
        <p:nvPicPr>
          <p:cNvPr id="3" name="Image 0" descr="assets/boxplot_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4754880"/>
          </a:xfrm>
          <a:prstGeom prst="rect">
            <a:avLst/>
          </a:prstGeom>
        </p:spPr>
      </p:pic>
      <p:pic>
        <p:nvPicPr>
          <p:cNvPr id="4" name="Image 1" descr="assets/boxplot_A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486400" cy="47548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distraction task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behavioral measure: error rate on the number-finding task, done once per condition.</a:t>
            </a:r>
            <a:endParaRPr lang="en-US" sz="1300" dirty="0"/>
          </a:p>
        </p:txBody>
      </p:sp>
      <p:pic>
        <p:nvPicPr>
          <p:cNvPr id="4" name="Image 0" descr="assets/boxplot_Error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600200"/>
            <a:ext cx="64008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Original Advertisements   ·   B = Blurred Advertisements   ·   C = Advertisement Replacement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64008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53619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↑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08960" y="15361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Blurring or replacing ads (B, C) rated significantly more usable than the original view (A).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11091672" cy="64008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224942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↓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08960" y="224942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workload decreased clearly and significantly from A to B to C.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11091672" cy="64008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296265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→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08960" y="296265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 in trust - modifying ads did not make the system feel less trustworthy.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7"/>
            <a:ext cx="11091672" cy="64008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675887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 ↑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08960" y="3675887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 was significantly higher in B and C than in 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91672" cy="64008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4"/>
          <p:cNvSpPr/>
          <p:nvPr/>
        </p:nvSpPr>
        <p:spPr>
          <a:xfrm>
            <a:off x="548640" y="5102352"/>
            <a:ext cx="11091672" cy="640080"/>
          </a:xfrm>
          <a:prstGeom prst="roundRect">
            <a:avLst>
              <a:gd name="adj" fmla="val 9412"/>
            </a:avLst>
          </a:prstGeom>
          <a:solidFill>
            <a:srgbClr val="FAEEDA"/>
          </a:solidFill>
          <a:ln w="12700">
            <a:solidFill>
              <a:srgbClr val="E8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68680" y="4389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↓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868680" y="51023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08960" y="43891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on the distraction task also decreased significantly from A to B to C, confirming the questionnaire results with an objective measure.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3108960" y="51023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convenience sample (N = 18, guideline: 36) limits statistical power and generalizability.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1091672" cy="594360"/>
          </a:xfrm>
          <a:prstGeom prst="rect">
            <a:avLst/>
          </a:prstGeom>
          <a:solidFill>
            <a:srgbClr val="EAF3DE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or replacing advertisements in AR makes the experience more usable, less demanding, and more immersive - without costing user trust.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Advertisement Detection &amp; Replacement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328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167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5F5E5A"/>
                </a:solidFill>
                <a:latin typeface="Calibri"/>
              </a:rPr>
              <a:t>Mann, S., &amp; Barfield, W. (2003). Introduction to mediated reality. Int. J. Human-Computer Interaction, 15(2), 205-208.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5F5E5A"/>
                </a:solidFill>
                <a:latin typeface="Calibri"/>
              </a:rPr>
              <a:t>MIRAGE: Enabling Real-Time Automotive Mediated Reality. CHI 2026. doi:10.1145/3772318.3791195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5F5E5A"/>
                </a:solidFill>
                <a:latin typeface="Calibri"/>
              </a:rPr>
              <a:t>Schwind, V., Resch, S., &amp; Sehrt, J. (2023). The HCI User Studies Toolkit. CHI EA '23. doi:10.1145/3544549.3585890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5F5E5A"/>
                </a:solidFill>
                <a:latin typeface="Calibri"/>
              </a:rPr>
              <a:t>Brooke, J. (1996). SUS: A quick and dirty usability scale. In Usability Evaluation in Industry. Taylor &amp; Francis.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5F5E5A"/>
                </a:solidFill>
                <a:latin typeface="Calibri"/>
              </a:rPr>
              <a:t>Hart, S. G., &amp; Staveland, L. E. (1988). Development of NASA-TLX. Advances in Psychology, 52, 139-183.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5F5E5A"/>
                </a:solidFill>
                <a:latin typeface="Calibri"/>
              </a:rPr>
              <a:t>Körber, M. (2019). Theoretical considerations and development of a questionnaire to measure trust in automation. IEA 2018 Proceedings.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5F5E5A"/>
                </a:solidFill>
                <a:latin typeface="Calibri"/>
              </a:rPr>
              <a:t>Georgiou, Y., &amp; Kyza, E. A. (2017). The development and validation of the ARI questionnaire. Int. J. Human-Computer Studies, 98, 24-37.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5F5E5A"/>
                </a:solidFill>
                <a:latin typeface="Calibri"/>
              </a:rPr>
              <a:t>Wang, C.-Y., Yeh, I.-H., &amp; Liao, H.-Y. M. (2024). YOLOv9: Learning what you want to learn using programmable gradient information. ECCV 2024.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5F5E5A"/>
                </a:solidFill>
                <a:latin typeface="Calibri"/>
              </a:rPr>
              <a:t>Meta Platforms Technologies. Unity-PassthroughCameraApiSamples (GitHub repository).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F5E5A"/>
                </a:solidFill>
                <a:latin typeface="Calibri"/>
              </a:rPr>
              <a:t>AR Advertisement Detection &amp; Replacement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F5E5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B9C2D0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3168</Words>
  <Application>Microsoft Macintosh PowerPoint</Application>
  <PresentationFormat>Breitbild</PresentationFormat>
  <Paragraphs>262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aksa1 ahmed</cp:lastModifiedBy>
  <cp:revision>5</cp:revision>
  <dcterms:created xsi:type="dcterms:W3CDTF">2026-08-14T02:29:15Z</dcterms:created>
  <dcterms:modified xsi:type="dcterms:W3CDTF">2026-10-06T01:20:58Z</dcterms:modified>
</cp:coreProperties>
</file>